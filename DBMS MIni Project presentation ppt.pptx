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59" r:id="rId4"/>
    <p:sldId id="260" r:id="rId5"/>
    <p:sldId id="257" r:id="rId6"/>
    <p:sldId id="263" r:id="rId7"/>
    <p:sldId id="262" r:id="rId8"/>
  </p:sldIdLst>
  <p:sldSz cx="12192000" cy="6858000"/>
  <p:notesSz cx="6858000" cy="12192000"/>
  <p:embeddedFontLst>
    <p:embeddedFont>
      <p:font typeface="Host Grotesk" panose="020B0604020202020204" charset="0"/>
      <p:regular r:id="rId10"/>
    </p:embeddedFont>
    <p:embeddedFont>
      <p:font typeface="Host Grotesk Bold" panose="020B0604020202020204" charset="0"/>
      <p:regular r:id="rId11"/>
    </p:embeddedFont>
    <p:embeddedFont>
      <p:font typeface="Host Grotesk Light" panose="020B0604020202020204" charset="0"/>
      <p:regular r:id="rId12"/>
    </p:embeddedFont>
    <p:embeddedFont>
      <p:font typeface="Host Grotesk Medium" panose="020B0604020202020204" charset="0"/>
      <p:regular r:id="rId13"/>
    </p:embeddedFont>
    <p:embeddedFont>
      <p:font typeface="Host Grotesk SemiBold" panose="020B060402020202020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2527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A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Title : 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126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600" kern="0" spc="-46" dirty="0">
                <a:solidFill>
                  <a:srgbClr val="173B5E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AI-Based Customer Churn Prediction and Customer Analytics System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711182" y="2733774"/>
            <a:ext cx="5384566" cy="19050"/>
          </a:xfrm>
          <a:prstGeom prst="roundRect">
            <a:avLst>
              <a:gd name="adj" fmla="val 49999"/>
            </a:avLst>
          </a:prstGeom>
          <a:solidFill>
            <a:srgbClr val="173B5E"/>
          </a:solidFill>
          <a:ln/>
        </p:spPr>
      </p:sp>
      <p:sp>
        <p:nvSpPr>
          <p:cNvPr id="5" name="Text 3"/>
          <p:cNvSpPr/>
          <p:nvPr/>
        </p:nvSpPr>
        <p:spPr>
          <a:xfrm>
            <a:off x="711182" y="3190974"/>
            <a:ext cx="11378915" cy="324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65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DBMS and Machine Learning Based Customer Management System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11182" y="4149130"/>
            <a:ext cx="33865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kern="0" spc="21" dirty="0">
                <a:solidFill>
                  <a:srgbClr val="52708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B.Tech Artificial Intelligence &amp; Data Science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402523" y="4149130"/>
            <a:ext cx="33865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kern="0" spc="21">
                <a:solidFill>
                  <a:srgbClr val="52708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DBMS Mini </a:t>
            </a:r>
            <a:r>
              <a:rPr lang="en-US" sz="1050" b="1" kern="0" spc="21" dirty="0">
                <a:solidFill>
                  <a:srgbClr val="52708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Project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93865" y="4149130"/>
            <a:ext cx="3386549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kern="0" spc="21">
                <a:solidFill>
                  <a:srgbClr val="52708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Present By :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b="1" kern="0" spc="21">
                <a:solidFill>
                  <a:srgbClr val="527086"/>
                </a:solidFill>
                <a:latin typeface="Host Grotesk Bold" pitchFamily="34" charset="0"/>
              </a:rPr>
              <a:t>Sanket Thakare 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b="1" kern="0" spc="21">
                <a:solidFill>
                  <a:srgbClr val="527086"/>
                </a:solidFill>
                <a:latin typeface="Host Grotesk Bold" pitchFamily="34" charset="0"/>
              </a:rPr>
              <a:t>Smarth Dalu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1182" y="4826000"/>
            <a:ext cx="10769331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5308600"/>
            <a:ext cx="444489" cy="4445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15CECA-1497-3F9A-3360-0259F0F9EA6A}"/>
              </a:ext>
            </a:extLst>
          </p:cNvPr>
          <p:cNvSpPr txBox="1"/>
          <p:nvPr/>
        </p:nvSpPr>
        <p:spPr>
          <a:xfrm>
            <a:off x="10626807" y="6437275"/>
            <a:ext cx="1531006" cy="4088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6604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10083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73B5E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182" y="1687513"/>
            <a:ext cx="4124817" cy="23770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33467" y="2187178"/>
            <a:ext cx="3146942" cy="1377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“Companies have large amounts of customer data, but it can be difficult to manage related information and identify customers who may leave the service.”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66773" y="2110978"/>
            <a:ext cx="19050" cy="1530052"/>
          </a:xfrm>
          <a:prstGeom prst="roundRect">
            <a:avLst>
              <a:gd name="adj" fmla="val 49999"/>
            </a:avLst>
          </a:prstGeom>
          <a:solidFill>
            <a:srgbClr val="245A86"/>
          </a:solidFill>
          <a:ln/>
        </p:spPr>
      </p:sp>
      <p:sp>
        <p:nvSpPr>
          <p:cNvPr id="7" name="Text 5"/>
          <p:cNvSpPr/>
          <p:nvPr/>
        </p:nvSpPr>
        <p:spPr>
          <a:xfrm>
            <a:off x="5293089" y="1916112"/>
            <a:ext cx="6187325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data is stored in different areas.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Difficult to connect customer, payment, usage, and complaint information.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Manual analysis takes time.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Difficult to identify customers at risk of churn.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Need a structured database and intelligent prediction system.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1182" y="5617270"/>
            <a:ext cx="3230779" cy="63113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9" name="Text 7"/>
          <p:cNvSpPr/>
          <p:nvPr/>
        </p:nvSpPr>
        <p:spPr>
          <a:xfrm>
            <a:off x="939776" y="5795070"/>
            <a:ext cx="300218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FFFFFF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MAIN GOAL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70556" y="5795070"/>
            <a:ext cx="7309957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73B5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Main Goal:</a:t>
            </a: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Manage customer data efficiently and predict customer churn risk.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781C82-61C4-2353-2045-33FB4CD49AE5}"/>
              </a:ext>
            </a:extLst>
          </p:cNvPr>
          <p:cNvSpPr txBox="1"/>
          <p:nvPr/>
        </p:nvSpPr>
        <p:spPr>
          <a:xfrm>
            <a:off x="10626807" y="6437275"/>
            <a:ext cx="1531006" cy="4088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842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PROPOSED SOLUTION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9321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73B5E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Proposed Solution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611313"/>
            <a:ext cx="7975400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Our system combines DBMS and AI/ML.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1182" y="2128143"/>
            <a:ext cx="2539936" cy="1621730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9928" y="226149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69928" y="2637433"/>
            <a:ext cx="2222345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8" name="Text 6"/>
          <p:cNvSpPr/>
          <p:nvPr/>
        </p:nvSpPr>
        <p:spPr>
          <a:xfrm>
            <a:off x="869928" y="2763143"/>
            <a:ext cx="2222444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Store customer data in MySQL.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5911" y="2128143"/>
            <a:ext cx="2387540" cy="1621730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4657" y="226149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714657" y="2637433"/>
            <a:ext cx="2069949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12" name="Text 10"/>
          <p:cNvSpPr/>
          <p:nvPr/>
        </p:nvSpPr>
        <p:spPr>
          <a:xfrm>
            <a:off x="3714657" y="2763143"/>
            <a:ext cx="2070048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Connect related data using Primary Keys and Foreign Keys.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48244" y="2128143"/>
            <a:ext cx="2463738" cy="1621730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6990" y="226149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6406990" y="2637433"/>
            <a:ext cx="2146147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6990" y="2763143"/>
            <a:ext cx="214624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 SQL queries and database features for analysis.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016774" y="2128143"/>
            <a:ext cx="2463738" cy="1621730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75520" y="226149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75520" y="2637433"/>
            <a:ext cx="2146147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20" name="Text 18"/>
          <p:cNvSpPr/>
          <p:nvPr/>
        </p:nvSpPr>
        <p:spPr>
          <a:xfrm>
            <a:off x="9175520" y="2763143"/>
            <a:ext cx="2146246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Collect customer usage, payment, and complaint information.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1182" y="4054673"/>
            <a:ext cx="2539936" cy="190619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9928" y="418802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869928" y="4563963"/>
            <a:ext cx="2222345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24" name="Text 22"/>
          <p:cNvSpPr/>
          <p:nvPr/>
        </p:nvSpPr>
        <p:spPr>
          <a:xfrm>
            <a:off x="869928" y="4689673"/>
            <a:ext cx="2222444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 Machine Learning to predict churn probability.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55911" y="4054673"/>
            <a:ext cx="2387540" cy="190619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14657" y="418802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3714657" y="4563963"/>
            <a:ext cx="2069949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28" name="Text 26"/>
          <p:cNvSpPr/>
          <p:nvPr/>
        </p:nvSpPr>
        <p:spPr>
          <a:xfrm>
            <a:off x="3714657" y="4689673"/>
            <a:ext cx="2070048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Classify customers into Low Risk, Medium Risk, and High Risk.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8244" y="4054673"/>
            <a:ext cx="5232269" cy="190619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6990" y="4188023"/>
            <a:ext cx="100585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400" dirty="0">
                <a:solidFill>
                  <a:srgbClr val="527086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07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6406990" y="4563963"/>
            <a:ext cx="4914777" cy="19050"/>
          </a:xfrm>
          <a:prstGeom prst="rect">
            <a:avLst/>
          </a:prstGeom>
          <a:solidFill>
            <a:srgbClr val="245A86"/>
          </a:solidFill>
          <a:ln/>
        </p:spPr>
      </p:sp>
      <p:sp>
        <p:nvSpPr>
          <p:cNvPr id="32" name="Text 30"/>
          <p:cNvSpPr/>
          <p:nvPr/>
        </p:nvSpPr>
        <p:spPr>
          <a:xfrm>
            <a:off x="6406990" y="4689673"/>
            <a:ext cx="4914777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Display customer information and prediction results on a web dashboard.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1182" y="6138664"/>
            <a:ext cx="11378915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kern="0" spc="21" dirty="0">
                <a:solidFill>
                  <a:srgbClr val="527086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Data → MySQL Database → SQL Analysis → Machine Learning Model → Churn Probability → Risk Level → Dashboard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4A63B8-1D5D-6664-906D-487AA6DDAAFB}"/>
              </a:ext>
            </a:extLst>
          </p:cNvPr>
          <p:cNvSpPr txBox="1"/>
          <p:nvPr/>
        </p:nvSpPr>
        <p:spPr>
          <a:xfrm>
            <a:off x="10626807" y="6437275"/>
            <a:ext cx="1531006" cy="4088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842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9321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73B5E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Technology Stack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711182" y="1611313"/>
            <a:ext cx="2463738" cy="221347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126" y="1820863"/>
            <a:ext cx="609585" cy="609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6126" y="2586038"/>
            <a:ext cx="199385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46126" y="3064173"/>
            <a:ext cx="222879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React.js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9713" y="1611313"/>
            <a:ext cx="2463738" cy="221347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657" y="1820863"/>
            <a:ext cx="609585" cy="609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14657" y="2586038"/>
            <a:ext cx="199385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14657" y="3064173"/>
            <a:ext cx="222879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FastAPI, Python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248244" y="1611313"/>
            <a:ext cx="2463738" cy="221347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3188" y="1820863"/>
            <a:ext cx="609585" cy="609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83188" y="2586038"/>
            <a:ext cx="199385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83188" y="3064173"/>
            <a:ext cx="2228794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MySQL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9016774" y="1611313"/>
            <a:ext cx="2463738" cy="2213471"/>
          </a:xfrm>
          <a:prstGeom prst="rect">
            <a:avLst/>
          </a:prstGeom>
          <a:solidFill>
            <a:srgbClr val="FFFFFF"/>
          </a:solidFill>
          <a:ln w="6350">
            <a:solidFill>
              <a:srgbClr val="25303A">
                <a:alpha val="20000"/>
              </a:srgbClr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1719" y="1820863"/>
            <a:ext cx="609585" cy="609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51719" y="2586038"/>
            <a:ext cx="1993850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6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251719" y="3064173"/>
            <a:ext cx="1993850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Python, Pandas, Scikit-learn, Joblib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11182" y="4066084"/>
            <a:ext cx="515607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FEATURES</a:t>
            </a:r>
            <a:endParaRPr lang="en-US" sz="1050" dirty="0"/>
          </a:p>
        </p:txBody>
      </p:sp>
      <p:sp>
        <p:nvSpPr>
          <p:cNvPr id="21" name="Text 15"/>
          <p:cNvSpPr/>
          <p:nvPr/>
        </p:nvSpPr>
        <p:spPr>
          <a:xfrm>
            <a:off x="711182" y="4461669"/>
            <a:ext cx="5156071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73B5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Database Features:</a:t>
            </a: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Primary Key; Foreign Key; SQL Queries; JOIN; GROUP BY; Aggregate Functions; Views; Stored Procedures; Triggers; Indexes; CRUD Operations.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324442" y="4066084"/>
            <a:ext cx="5156071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 TABLES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6324442" y="4461669"/>
            <a:ext cx="515607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73B5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Database Tables:</a:t>
            </a: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Customers; Subscriptions; Usage; Payments; Complaints; Churn Labels</a:t>
            </a:r>
            <a:r>
              <a:rPr lang="en-US" sz="140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; Predictions, </a:t>
            </a: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Activity Logs.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05</a:t>
            </a:r>
            <a:endParaRPr lang="en-US" sz="9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29BED2-7FD9-0FF2-74B0-C48E13EC4DFF}"/>
              </a:ext>
            </a:extLst>
          </p:cNvPr>
          <p:cNvSpPr txBox="1"/>
          <p:nvPr/>
        </p:nvSpPr>
        <p:spPr>
          <a:xfrm>
            <a:off x="10626807" y="6437275"/>
            <a:ext cx="1531006" cy="4088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9642" y="616041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>
                <a:solidFill>
                  <a:srgbClr val="173B5E"/>
                </a:solidFill>
                <a:latin typeface="Host Grotesk Light" pitchFamily="34" charset="0"/>
              </a:rPr>
              <a:t>Database Architecture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340246" y="1593002"/>
            <a:ext cx="5843541" cy="551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Companies collect customer details, subscriptions, service usage, payments, and complaints.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9870" y="2661255"/>
            <a:ext cx="584354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Managing information separately makes analysis difficult.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9870" y="3413134"/>
            <a:ext cx="584354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 churn means a customer stops using a company’s service.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9870" y="4165014"/>
            <a:ext cx="584354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Our system stores customer data in a structured MySQL database.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9870" y="4916894"/>
            <a:ext cx="584354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Machine learning predicts which customers may be at risk of leaving.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9870" y="5668773"/>
            <a:ext cx="5843541" cy="275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are displayed through a web dashboard.</a:t>
            </a:r>
            <a:endParaRPr lang="en-US" sz="14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301" y="2476798"/>
            <a:ext cx="177796" cy="177800"/>
          </a:xfrm>
          <a:prstGeom prst="rect">
            <a:avLst/>
          </a:prstGeom>
        </p:spPr>
      </p:pic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156" y="2476798"/>
            <a:ext cx="177796" cy="1778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301" y="3678734"/>
            <a:ext cx="177796" cy="177800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260393" y="2524229"/>
            <a:ext cx="5843541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29" name="Shape 22"/>
          <p:cNvSpPr/>
          <p:nvPr/>
        </p:nvSpPr>
        <p:spPr>
          <a:xfrm>
            <a:off x="279870" y="3305184"/>
            <a:ext cx="5843541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279870" y="4057064"/>
            <a:ext cx="5843541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31" name="Shape 24"/>
          <p:cNvSpPr/>
          <p:nvPr/>
        </p:nvSpPr>
        <p:spPr>
          <a:xfrm>
            <a:off x="279870" y="4808944"/>
            <a:ext cx="5843541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32" name="Shape 25"/>
          <p:cNvSpPr/>
          <p:nvPr/>
        </p:nvSpPr>
        <p:spPr>
          <a:xfrm>
            <a:off x="279870" y="5560823"/>
            <a:ext cx="5843541" cy="12700"/>
          </a:xfrm>
          <a:prstGeom prst="rect">
            <a:avLst/>
          </a:prstGeom>
          <a:solidFill>
            <a:srgbClr val="25303A">
              <a:alpha val="20000"/>
            </a:srgbClr>
          </a:solidFill>
          <a:ln/>
        </p:spPr>
      </p:sp>
      <p:sp>
        <p:nvSpPr>
          <p:cNvPr id="33" name="Text 26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02</a:t>
            </a:r>
            <a:endParaRPr lang="en-US" sz="900" dirty="0"/>
          </a:p>
        </p:txBody>
      </p:sp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B9488CD-1B8C-5088-C269-F0A3FA2FDB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5810187"/>
              </p:ext>
            </p:extLst>
          </p:nvPr>
        </p:nvGraphicFramePr>
        <p:xfrm>
          <a:off x="6226121" y="423802"/>
          <a:ext cx="5843542" cy="6309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2662">
                  <a:extLst>
                    <a:ext uri="{9D8B030D-6E8A-4147-A177-3AD203B41FA5}">
                      <a16:colId xmlns:a16="http://schemas.microsoft.com/office/drawing/2014/main" val="2548838906"/>
                    </a:ext>
                  </a:extLst>
                </a:gridCol>
                <a:gridCol w="1922662">
                  <a:extLst>
                    <a:ext uri="{9D8B030D-6E8A-4147-A177-3AD203B41FA5}">
                      <a16:colId xmlns:a16="http://schemas.microsoft.com/office/drawing/2014/main" val="1375638302"/>
                    </a:ext>
                  </a:extLst>
                </a:gridCol>
                <a:gridCol w="1998218">
                  <a:extLst>
                    <a:ext uri="{9D8B030D-6E8A-4147-A177-3AD203B41FA5}">
                      <a16:colId xmlns:a16="http://schemas.microsoft.com/office/drawing/2014/main" val="3795225128"/>
                    </a:ext>
                  </a:extLst>
                </a:gridCol>
              </a:tblGrid>
              <a:tr h="30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Database Feature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Where We Use It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Purpose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314393280"/>
                  </a:ext>
                </a:extLst>
              </a:tr>
              <a:tr h="300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Primary Key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customers.customer_id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Uniquely identifies each customer.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092370820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Foreign Key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payments.customer_id, usage.customer_id, etc.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Connects different tables and maintains relationships.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882115082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SQL Queries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Throughout the database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To insert, retrieve, update, delete, and analyze data.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801928861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JOIN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Customer analytics and churn data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Combines data from multiple tables.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820504976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GROUP BY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Dashboard analytics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Groups data such as customers by plan or risk level.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668132972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Aggregate Functions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Analytics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Calculates COUNT, AVG, SUM, MIN, and MAX.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955700368"/>
                  </a:ext>
                </a:extLst>
              </a:tr>
              <a:tr h="751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Views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customer_churn_view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Combines data from multiple tables into a virtual table for analysis and ML.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3777948521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Stored Procedures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Customer profile and high-risk customer analysis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Stores reusable SQL operations inside the database.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661023471"/>
                  </a:ext>
                </a:extLst>
              </a:tr>
              <a:tr h="751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Triggers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activity_logs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Automatically records database changes such as INSERT, UPDATE, or DELETE.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613122170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Indexes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Frequently searched/joined columns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Improves database search and query performance.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1627603192"/>
                  </a:ext>
                </a:extLst>
              </a:tr>
              <a:tr h="5258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CRUD Operations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Customer management</a:t>
                      </a:r>
                    </a:p>
                  </a:txBody>
                  <a:tcPr marL="51802" marR="51802" marT="25901" marB="259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Allows Create, Read, Update, and Delete of customer records.</a:t>
                      </a:r>
                    </a:p>
                  </a:txBody>
                  <a:tcPr marL="51802" marR="51802" marT="25901" marB="25901" anchor="ctr"/>
                </a:tc>
                <a:extLst>
                  <a:ext uri="{0D108BD9-81ED-4DB2-BD59-A6C34878D82A}">
                    <a16:rowId xmlns:a16="http://schemas.microsoft.com/office/drawing/2014/main" val="213586989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972649-3C1D-176D-67C7-303BADA442A8}"/>
              </a:ext>
            </a:extLst>
          </p:cNvPr>
          <p:cNvSpPr txBox="1"/>
          <p:nvPr/>
        </p:nvSpPr>
        <p:spPr>
          <a:xfrm>
            <a:off x="1337094" y="103517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C49C07D-0153-9E18-932C-9C9188984ADC}"/>
              </a:ext>
            </a:extLst>
          </p:cNvPr>
          <p:cNvSpPr/>
          <p:nvPr/>
        </p:nvSpPr>
        <p:spPr>
          <a:xfrm>
            <a:off x="253982" y="75139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000" b="1" kern="0" spc="-14">
                <a:solidFill>
                  <a:srgbClr val="173B5E"/>
                </a:solidFill>
                <a:latin typeface="Host Grotesk Light" pitchFamily="34" charset="0"/>
              </a:rPr>
              <a:t>Dashboard </a:t>
            </a:r>
            <a:endParaRPr lang="en-US" sz="20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8CC4DA-9BF4-AC8E-9C35-39EAD634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4" y="462576"/>
            <a:ext cx="7863475" cy="43190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7A1E054-8282-CFB6-4AD8-533D8C27B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518" y="1478047"/>
            <a:ext cx="3896559" cy="45723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0B5741C-EEA4-F54C-AC99-F1B1E7C6AB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895" y="4602915"/>
            <a:ext cx="7009460" cy="225508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9BE2409-4B8B-E2C5-1A9B-06BCEA630074}"/>
              </a:ext>
            </a:extLst>
          </p:cNvPr>
          <p:cNvSpPr txBox="1"/>
          <p:nvPr/>
        </p:nvSpPr>
        <p:spPr>
          <a:xfrm>
            <a:off x="10626807" y="6437275"/>
            <a:ext cx="1531006" cy="4088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46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58420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527086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11182" y="932160"/>
            <a:ext cx="10769331" cy="4124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2900" kern="0" spc="-14" dirty="0">
                <a:solidFill>
                  <a:srgbClr val="173B5E"/>
                </a:solidFill>
                <a:latin typeface="Host Grotesk Light" pitchFamily="34" charset="0"/>
                <a:ea typeface="Host Grotesk Light" pitchFamily="34" charset="-122"/>
                <a:cs typeface="Host Grotesk Light" pitchFamily="34" charset="-120"/>
              </a:rPr>
              <a:t>Conclusion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711182" y="1839913"/>
            <a:ext cx="5843541" cy="2328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system provides a centralized customer database.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MySQL manages customer-related information efficiently.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SQL and DBMS features help analyze the data.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Machine Learning predicts customer churn risk.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Customers can be classified into Low, Medium, and High risk.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 and FastAPI provide an easy-to-use web interface.</a:t>
            </a:r>
            <a:endParaRPr lang="en-US" sz="1400" dirty="0"/>
          </a:p>
          <a:p>
            <a:pPr marL="284480" indent="-284480" algn="l">
              <a:lnSpc>
                <a:spcPct val="129000"/>
              </a:lnSpc>
              <a:buSzPct val="100000"/>
              <a:buChar char="•"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system combines DBMS and AI to support customer analysis.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011812" y="1611313"/>
            <a:ext cx="4468601" cy="33314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316604" y="1865312"/>
            <a:ext cx="385901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Overall, our project helps manage customer data efficiently and identify customers who may be at risk of leaving the service.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6604" y="3069729"/>
            <a:ext cx="3858918" cy="19050"/>
          </a:xfrm>
          <a:prstGeom prst="roundRect">
            <a:avLst>
              <a:gd name="adj" fmla="val 49999"/>
            </a:avLst>
          </a:prstGeom>
          <a:solidFill>
            <a:srgbClr val="25303A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316604" y="3466604"/>
            <a:ext cx="4163809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50" kern="0" spc="105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6604" y="3862189"/>
            <a:ext cx="3859017" cy="826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400" b="1" dirty="0">
                <a:solidFill>
                  <a:srgbClr val="173B5E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Future Scope:</a:t>
            </a:r>
            <a:r>
              <a:rPr lang="en-US" sz="1400" dirty="0">
                <a:solidFill>
                  <a:srgbClr val="173B5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Real-time customer monitoring; Better ML models; Automated alerts; Customer retention recommendations.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392310" y="6464598"/>
            <a:ext cx="79938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kern="0" spc="162" dirty="0">
                <a:solidFill>
                  <a:srgbClr val="173B5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07</a:t>
            </a:r>
            <a:endParaRPr lang="en-US" sz="9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442C0B4-6A7B-72C3-2F85-C53DD548BD3E}"/>
              </a:ext>
            </a:extLst>
          </p:cNvPr>
          <p:cNvSpPr txBox="1"/>
          <p:nvPr/>
        </p:nvSpPr>
        <p:spPr>
          <a:xfrm>
            <a:off x="10626807" y="6437275"/>
            <a:ext cx="1531006" cy="4088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685</Words>
  <Application>Microsoft Office PowerPoint</Application>
  <PresentationFormat>Widescreen</PresentationFormat>
  <Paragraphs>117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Host Grotesk Bold</vt:lpstr>
      <vt:lpstr>Host Grotesk Medium</vt:lpstr>
      <vt:lpstr>Arial</vt:lpstr>
      <vt:lpstr>Host Grotesk</vt:lpstr>
      <vt:lpstr>Host Grotesk Light</vt:lpstr>
      <vt:lpstr>Host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Sanket Thakare</dc:creator>
  <cp:lastModifiedBy>Sanket Thakare</cp:lastModifiedBy>
  <cp:revision>2</cp:revision>
  <dcterms:created xsi:type="dcterms:W3CDTF">2026-09-22T16:37:42Z</dcterms:created>
  <dcterms:modified xsi:type="dcterms:W3CDTF">2026-09-22T16:55:49Z</dcterms:modified>
</cp:coreProperties>
</file>